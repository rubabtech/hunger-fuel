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3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851AA-EFB9-4335-B487-2818D7FA132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75651-123B-4CA5-8C89-ACF58321F7F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75651-123B-4CA5-8C89-ACF58321F7F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AEEB8BE-3953-4398-9B55-22F10EE16F2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237E74-ED9C-409A-AFF3-A374AFEEF90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HUNGER FUEL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SRS TEMPLATE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814" y="125362"/>
            <a:ext cx="10018713" cy="1752599"/>
          </a:xfrm>
        </p:spPr>
        <p:txBody>
          <a:bodyPr/>
          <a:lstStyle/>
          <a:p>
            <a:r>
              <a:rPr lang="en-US" dirty="0"/>
              <a:t>MEMBERS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2831465" y="1905000"/>
          <a:ext cx="7124700" cy="3500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32585"/>
                <a:gridCol w="2683510"/>
                <a:gridCol w="1770380"/>
                <a:gridCol w="1038225"/>
              </a:tblGrid>
              <a:tr h="462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>
                          <a:effectLst/>
                        </a:rPr>
                        <a:t>Member Name</a:t>
                      </a:r>
                      <a:endParaRPr lang="en-US" sz="1800" b="1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>
                          <a:effectLst/>
                        </a:rPr>
                        <a:t>Primary Responsibility</a:t>
                      </a:r>
                      <a:endParaRPr lang="en-GB" sz="18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GB" sz="9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GB" sz="1800" b="1">
                          <a:effectLst/>
                        </a:rPr>
                        <a:t>% Contribution</a:t>
                      </a:r>
                      <a:endParaRPr lang="en-US" sz="18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GB" sz="9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GB" sz="1800" b="1">
                          <a:effectLst/>
                        </a:rPr>
                        <a:t>Roll No</a:t>
                      </a:r>
                      <a:endParaRPr lang="en-US" sz="18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/>
                </a:tc>
              </a:tr>
              <a:tr h="71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ea typeface="Times" panose="02020603050405020304" pitchFamily="18" charset="0"/>
                          <a:cs typeface="+mn-lt"/>
                        </a:rPr>
                        <a:t>Rubab Imran</a:t>
                      </a:r>
                      <a:endParaRPr lang="en-US" sz="1400" b="1">
                        <a:effectLst/>
                        <a:ea typeface="Times" panose="02020603050405020304" pitchFamily="18" charset="0"/>
                        <a:cs typeface="+mn-lt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</a:rPr>
                        <a:t>Frontend Developer</a:t>
                      </a:r>
                      <a:r>
                        <a:rPr lang="en-US" altLang="en-GB" sz="1400" b="1">
                          <a:effectLst/>
                        </a:rPr>
                        <a:t> &amp; </a:t>
                      </a:r>
                      <a:r>
                        <a:rPr lang="en-GB" sz="1400" b="1">
                          <a:effectLst/>
                          <a:sym typeface="+mn-ea"/>
                        </a:rPr>
                        <a:t>Documentation &amp; UI Designer</a:t>
                      </a:r>
                      <a:endParaRPr lang="en-US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US" altLang="en-GB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effectLst/>
                          <a:latin typeface="Times" panose="02020603050405020304" pitchFamily="18" charset="0"/>
                          <a:ea typeface="Times" panose="02020603050405020304" pitchFamily="18" charset="0"/>
                        </a:rPr>
                        <a:t>                   </a:t>
                      </a:r>
                      <a:endParaRPr lang="en-US" sz="8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800" b="1">
                          <a:effectLst/>
                          <a:latin typeface="Times" panose="02020603050405020304" pitchFamily="18" charset="0"/>
                          <a:ea typeface="Times" panose="02020603050405020304" pitchFamily="18" charset="0"/>
                        </a:rPr>
                        <a:t>                      </a:t>
                      </a:r>
                      <a:r>
                        <a:rPr lang="en-US" sz="1800" b="1">
                          <a:effectLst/>
                          <a:latin typeface="Times" panose="02020603050405020304" pitchFamily="18" charset="0"/>
                          <a:ea typeface="Times" panose="02020603050405020304" pitchFamily="18" charset="0"/>
                        </a:rPr>
                        <a:t>30%</a:t>
                      </a:r>
                      <a:endParaRPr lang="en-US" sz="18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400" b="1">
                          <a:effectLst/>
                          <a:latin typeface="Times New Roman" panose="02020603050405020304" charset="0"/>
                          <a:ea typeface="Times" panose="02020603050405020304" pitchFamily="18" charset="0"/>
                          <a:cs typeface="Times New Roman" panose="02020603050405020304" charset="0"/>
                        </a:rPr>
                        <a:t>    </a:t>
                      </a:r>
                      <a:endParaRPr lang="en-US" altLang="en-GB" sz="1400" b="1">
                        <a:effectLst/>
                        <a:latin typeface="Times New Roman" panose="02020603050405020304" charset="0"/>
                        <a:ea typeface="Times" panose="02020603050405020304" pitchFamily="18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1400" b="1">
                          <a:effectLst/>
                          <a:latin typeface="Times New Roman" panose="02020603050405020304" charset="0"/>
                          <a:ea typeface="Times" panose="02020603050405020304" pitchFamily="18" charset="0"/>
                          <a:cs typeface="Times New Roman" panose="02020603050405020304" charset="0"/>
                        </a:rPr>
                        <a:t>      0673</a:t>
                      </a:r>
                      <a:endParaRPr lang="en-US" altLang="en-GB" sz="1400" b="1">
                        <a:effectLst/>
                        <a:latin typeface="Times New Roman" panose="02020603050405020304" charset="0"/>
                        <a:ea typeface="Times" panose="02020603050405020304" pitchFamily="18" charset="0"/>
                        <a:cs typeface="Times New Roman" panose="02020603050405020304" charset="0"/>
                      </a:endParaRPr>
                    </a:p>
                  </a:txBody>
                  <a:tcPr marL="43661" marR="43661" marT="0" marB="0"/>
                </a:tc>
              </a:tr>
              <a:tr h="668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ea typeface="Times" panose="02020603050405020304" pitchFamily="18" charset="0"/>
                          <a:cs typeface="+mn-lt"/>
                        </a:rPr>
                        <a:t>Laiba Shabir</a:t>
                      </a:r>
                      <a:endParaRPr lang="en-US" sz="1400" b="1">
                        <a:effectLst/>
                        <a:ea typeface="Times" panose="02020603050405020304" pitchFamily="18" charset="0"/>
                        <a:cs typeface="+mn-lt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effectLst/>
                          <a:cs typeface="+mn-lt"/>
                          <a:sym typeface="+mn-ea"/>
                        </a:rPr>
                        <a:t>Team Leader &amp; Backend Developer</a:t>
                      </a:r>
                      <a:endParaRPr lang="en-US" sz="1600" b="1">
                        <a:effectLst/>
                        <a:ea typeface="Times" panose="02020603050405020304" pitchFamily="18" charset="0"/>
                        <a:cs typeface="+mn-lt"/>
                      </a:endParaRPr>
                    </a:p>
                    <a:p>
                      <a:pPr>
                        <a:buNone/>
                      </a:pPr>
                      <a:endParaRPr lang="en-US" sz="1600" b="1">
                        <a:effectLst/>
                        <a:ea typeface="Times" panose="02020603050405020304" pitchFamily="18" charset="0"/>
                        <a:cs typeface="+mn-lt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Times" panose="02020603050405020304" pitchFamily="18" charset="0"/>
                          <a:ea typeface="Times" panose="02020603050405020304" pitchFamily="18" charset="0"/>
                        </a:rPr>
                        <a:t>          </a:t>
                      </a:r>
                      <a:endParaRPr lang="en-US" sz="18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Times" panose="02020603050405020304" pitchFamily="18" charset="0"/>
                          <a:ea typeface="Times" panose="02020603050405020304" pitchFamily="18" charset="0"/>
                        </a:rPr>
                        <a:t>          30%</a:t>
                      </a:r>
                      <a:endParaRPr lang="en-US" sz="18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" panose="02020603050405020304" pitchFamily="18" charset="0"/>
                          <a:ea typeface="Times" panose="02020603050405020304" pitchFamily="18" charset="0"/>
                        </a:rPr>
                        <a:t>      1046</a:t>
                      </a:r>
                      <a:endParaRPr lang="en-US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/>
                </a:tc>
              </a:tr>
              <a:tr h="871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ea typeface="Times" panose="02020603050405020304" pitchFamily="18" charset="0"/>
                          <a:cs typeface="+mn-lt"/>
                        </a:rPr>
                        <a:t>Areesha Munir </a:t>
                      </a:r>
                      <a:endParaRPr lang="en-US" sz="1400" b="1">
                        <a:effectLst/>
                        <a:ea typeface="Times" panose="02020603050405020304" pitchFamily="18" charset="0"/>
                        <a:cs typeface="+mn-lt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  <a:sym typeface="+mn-ea"/>
                        </a:rPr>
                        <a:t>Database Designer</a:t>
                      </a:r>
                      <a:endParaRPr lang="en-GB" sz="1400" b="1">
                        <a:effectLst/>
                      </a:endParaRPr>
                    </a:p>
                    <a:p>
                      <a:pPr>
                        <a:buNone/>
                      </a:pPr>
                      <a:endParaRPr lang="en-GB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300">
                          <a:effectLst/>
                        </a:rPr>
                        <a:t>              </a:t>
                      </a:r>
                      <a:endParaRPr lang="en-US" altLang="en-GB" sz="13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1300">
                          <a:effectLst/>
                        </a:rPr>
                        <a:t>                </a:t>
                      </a:r>
                      <a:r>
                        <a:rPr lang="en-US" altLang="en-GB" sz="1800" b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GB" sz="1800" b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r>
                        <a:rPr lang="en-US" altLang="en-GB" sz="1800" b="1">
                          <a:effectLst/>
                          <a:latin typeface="Times New Roman" panose="02020603050405020304" charset="0"/>
                          <a:cs typeface="Times New Roman" panose="02020603050405020304" charset="0"/>
                        </a:rPr>
                        <a:t>0%</a:t>
                      </a:r>
                      <a:endParaRPr lang="en-US" altLang="en-GB" sz="1800" b="1">
                        <a:effectLst/>
                        <a:latin typeface="Times New Roman" panose="02020603050405020304" charset="0"/>
                        <a:ea typeface="Times" panose="02020603050405020304" pitchFamily="18" charset="0"/>
                        <a:cs typeface="Times New Roman" panose="02020603050405020304" charset="0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" panose="02020603050405020304" pitchFamily="18" charset="0"/>
                          <a:ea typeface="Times" panose="02020603050405020304" pitchFamily="18" charset="0"/>
                        </a:rPr>
                        <a:t>    </a:t>
                      </a:r>
                      <a:endParaRPr lang="en-US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" panose="02020603050405020304" pitchFamily="18" charset="0"/>
                          <a:ea typeface="Times" panose="02020603050405020304" pitchFamily="18" charset="0"/>
                        </a:rPr>
                        <a:t>      0153</a:t>
                      </a:r>
                      <a:endParaRPr lang="en-US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/>
                </a:tc>
              </a:tr>
              <a:tr h="78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ea typeface="Times" panose="02020603050405020304" pitchFamily="18" charset="0"/>
                          <a:cs typeface="+mn-lt"/>
                        </a:rPr>
                        <a:t>Moosa kazim</a:t>
                      </a:r>
                      <a:endParaRPr lang="en-US" sz="1400" b="1">
                        <a:effectLst/>
                        <a:ea typeface="Times" panose="02020603050405020304" pitchFamily="18" charset="0"/>
                        <a:cs typeface="+mn-lt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effectLst/>
                          <a:sym typeface="+mn-ea"/>
                        </a:rPr>
                        <a:t>Tester &amp; QA</a:t>
                      </a:r>
                      <a:endParaRPr lang="en-US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US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ea typeface="Times" panose="02020603050405020304" pitchFamily="18" charset="0"/>
                          <a:cs typeface="+mn-lt"/>
                        </a:rPr>
                        <a:t>            </a:t>
                      </a:r>
                      <a:endParaRPr lang="en-US" sz="1800" b="1">
                        <a:effectLst/>
                        <a:ea typeface="Times" panose="02020603050405020304" pitchFamily="18" charset="0"/>
                        <a:cs typeface="+mn-lt"/>
                      </a:endParaRPr>
                    </a:p>
                    <a:p>
                      <a:pPr>
                        <a:buNone/>
                      </a:pPr>
                      <a:r>
                        <a:rPr lang="en-US" sz="1800" b="1">
                          <a:effectLst/>
                          <a:latin typeface="Times New Roman" panose="02020603050405020304" charset="0"/>
                          <a:ea typeface="Times" panose="02020603050405020304" pitchFamily="18" charset="0"/>
                          <a:cs typeface="Times New Roman" panose="02020603050405020304" charset="0"/>
                        </a:rPr>
                        <a:t>          20%</a:t>
                      </a:r>
                      <a:endParaRPr lang="en-US" sz="1800" b="1">
                        <a:effectLst/>
                        <a:latin typeface="Times New Roman" panose="02020603050405020304" charset="0"/>
                        <a:ea typeface="Times" panose="02020603050405020304" pitchFamily="18" charset="0"/>
                        <a:cs typeface="Times New Roman" panose="02020603050405020304" charset="0"/>
                      </a:endParaRPr>
                    </a:p>
                  </a:txBody>
                  <a:tcPr marL="43661" marR="4366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" panose="02020603050405020304" pitchFamily="18" charset="0"/>
                          <a:ea typeface="Times" panose="02020603050405020304" pitchFamily="18" charset="0"/>
                        </a:rPr>
                        <a:t>   </a:t>
                      </a:r>
                      <a:endParaRPr lang="en-US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Times" panose="02020603050405020304" pitchFamily="18" charset="0"/>
                          <a:ea typeface="Times" panose="02020603050405020304" pitchFamily="18" charset="0"/>
                        </a:rPr>
                        <a:t>      0893</a:t>
                      </a:r>
                      <a:endParaRPr lang="en-US" sz="1400" b="1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3661" marR="43661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13471" y="857763"/>
            <a:ext cx="6096000" cy="496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Introduction:</a:t>
            </a:r>
            <a:endParaRPr lang="en-US" sz="2000" b="1" dirty="0">
              <a:effectLst/>
              <a:latin typeface="Times" panose="02020603050405020304" pitchFamily="18" charset="0"/>
            </a:endParaRPr>
          </a:p>
          <a:p>
            <a:pPr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20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Problem Statement</a:t>
            </a:r>
            <a:endParaRPr lang="en-US" sz="1800" b="1" dirty="0">
              <a:effectLst/>
              <a:latin typeface="Times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People often don’t know which restaurant is good because they cannot see honest reviews.</a:t>
            </a:r>
            <a:endParaRPr lang="en-GB" sz="1800" dirty="0">
              <a:effectLst/>
              <a:latin typeface="Times New Roman" panose="02020603050405020304" charset="0"/>
              <a:ea typeface="Times New Roman" panose="02020603050405020304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 Sometimes they waste money on food that is not good. Also, users often miss out on </a:t>
            </a:r>
            <a:r>
              <a:rPr lang="en-GB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restaurant menus, deals, and discounts</a:t>
            </a: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 because this information is scattered across different platforms.</a:t>
            </a:r>
            <a:endParaRPr lang="en-GB" sz="1800" dirty="0">
              <a:effectLst/>
              <a:latin typeface="Times New Roman" panose="02020603050405020304" charset="0"/>
              <a:ea typeface="Times New Roman" panose="02020603050405020304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Hunger Fuel</a:t>
            </a:r>
            <a:r>
              <a:rPr lang="en-GB" dirty="0"/>
              <a:t> is a simple website where users can read and write reviews, view restaurant menus, and see available deals or discounts so they can choose a better place to eat.</a:t>
            </a: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endParaRPr lang="en-GB" dirty="0">
              <a:latin typeface="Times New Roman" panose="02020603050405020304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0" y="451155"/>
            <a:ext cx="6096000" cy="5960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20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Background</a:t>
            </a:r>
            <a:endParaRPr lang="en-US" sz="1800" b="1" dirty="0">
              <a:effectLst/>
              <a:latin typeface="Times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Today, many people depend on online reviews before visiting any restaurant. Good reviews help people make better decisions. At the same time, knowing the </a:t>
            </a:r>
            <a:r>
              <a:rPr lang="en-GB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menu prices and current deals</a:t>
            </a: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 helps users decide if a restaurant fits their budget.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Hunger Fuel works as a basic review and information system where users: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share their eating experience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rate restaurants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view menus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check available deals or discounts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The system is designed to be simple and suitable for university-level learning.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42967" y="987306"/>
            <a:ext cx="6096000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Objectives / Aims / Targets</a:t>
            </a:r>
            <a:endParaRPr lang="en-US" sz="2000" b="1" dirty="0">
              <a:effectLst/>
              <a:latin typeface="Times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To help people pick a good restaurant.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To provide clear and honest reviews in one place.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To allow users to view restaurant menus before visiting.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To inform users about available deals and discounts.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To make a simple website that anyone can use easily.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To allow users to rate restaurants based on their experience.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To give admins control to manage restaurant data, menus, and offers.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82297" y="1140640"/>
            <a:ext cx="6096000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. Challenges</a:t>
            </a:r>
            <a:endParaRPr lang="en-US" sz="2000" b="1" dirty="0">
              <a:effectLst/>
              <a:latin typeface="Times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Making sure reviews are honest.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Keeping the website simple and easy to use.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Managing menus, deals, and discounts for different restaurants.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Handling many reviews and ratings.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Applying basic security for user accounts and admin access.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38168" y="912820"/>
            <a:ext cx="609600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20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Product Features</a:t>
            </a:r>
            <a:endParaRPr lang="en-US" sz="1800" b="1" dirty="0">
              <a:effectLst/>
              <a:latin typeface="Times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User sign up and login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Restaurant search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View restaurant details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View menus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View deals and discounts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Read reviews and ratings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●"/>
            </a:pPr>
            <a: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  <a:t>Write reviews and give ratings</a:t>
            </a:r>
            <a:br>
              <a:rPr lang="en-GB" sz="1800" u="none" strike="noStrike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Admin management of restaurants, menus, and offers</a:t>
            </a:r>
            <a:b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0" y="1205208"/>
            <a:ext cx="6096000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2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Assumptions and Dependencies</a:t>
            </a:r>
            <a:endParaRPr lang="en-US" sz="2000" b="1" dirty="0">
              <a:effectLst/>
              <a:latin typeface="Times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Users have internet access</a:t>
            </a:r>
            <a:b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Users provide honest reviews</a:t>
            </a:r>
            <a:b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Restaurants update menu and deal information</a:t>
            </a:r>
            <a:b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Database and hosting remain active</a:t>
            </a:r>
            <a:b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</a:b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Future features may depend on maps or location services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MANAGEMENT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Milestone Table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76051" y="1779640"/>
          <a:ext cx="8229600" cy="4247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9167"/>
                <a:gridCol w="3439021"/>
                <a:gridCol w="1808492"/>
                <a:gridCol w="1822920"/>
              </a:tblGrid>
              <a:tr h="606791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M1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Project Initiation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Day 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</a:tr>
              <a:tr h="606791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M2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Requirement Analysis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Day 8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</a:tr>
              <a:tr h="606791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M3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System Design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Day 14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</a:tr>
              <a:tr h="606791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M4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Development 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12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Day 26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</a:tr>
              <a:tr h="606791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M5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Testing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Day 31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</a:tr>
              <a:tr h="606791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M6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Deployment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Day 34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</a:tr>
              <a:tr h="606791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M7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Documentation &amp; Review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Day 37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3500" marR="63500" marT="63500" marB="6350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223129" y="6172200"/>
            <a:ext cx="616190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charset="0"/>
              </a:rPr>
              <a:t>Total Project Duration: 37 Days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Activity List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998839" y="1750141"/>
          <a:ext cx="5478728" cy="40902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5280"/>
                <a:gridCol w="2839342"/>
                <a:gridCol w="843440"/>
                <a:gridCol w="1050666"/>
              </a:tblGrid>
              <a:tr h="547999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900">
                          <a:effectLst/>
                        </a:rPr>
                        <a:t>Activity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Description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Duration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Predecessor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</a:tr>
              <a:tr h="37427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A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Project Initiation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—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</a:tr>
              <a:tr h="37427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B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Requirement Analysis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A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</a:tr>
              <a:tr h="37427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C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System Design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B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</a:tr>
              <a:tr h="547999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Core Development (Reviews, Ratings)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C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</a:tr>
              <a:tr h="37427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E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Menu &amp; Deals Development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C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</a:tr>
              <a:tr h="37427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F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Integration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D, E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</a:tr>
              <a:tr h="37427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G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Testing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F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</a:tr>
              <a:tr h="37427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H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Deployment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G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</a:tr>
              <a:tr h="37427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I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Documentation &amp; Review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H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3940" marR="53940" marT="53940" marB="5394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829368" y="2743199"/>
            <a:ext cx="4571999" cy="800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77744" rIns="91440" bIns="50784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charset="0"/>
              </a:rPr>
              <a:t>Activity Graph 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ea typeface="Nova Mono"/>
                <a:cs typeface="Nova Mono"/>
              </a:rPr>
              <a:t>A → B → C → D → F → G → H → I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Arial" panose="020B0604020202020204" pitchFamily="34" charset="0"/>
                <a:ea typeface="Nova Mono"/>
                <a:cs typeface="Nova Mono"/>
              </a:rPr>
              <a:t>          ↘ E ↗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Critical Path Method (CPM)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640827" y="2551415"/>
          <a:ext cx="3940898" cy="41935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4375"/>
                <a:gridCol w="1106518"/>
                <a:gridCol w="902233"/>
                <a:gridCol w="927772"/>
              </a:tblGrid>
              <a:tr h="447739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Act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Dur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ES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EF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305801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A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305801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B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8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447739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C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14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447739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14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22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447739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E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14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18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447739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F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22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25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447739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G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25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30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447739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H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30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447739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I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36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705843" y="1714077"/>
            <a:ext cx="1560196" cy="70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77744" rIns="91440" bIns="50784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charset="0"/>
              </a:rPr>
              <a:t>Forward Pass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Critical Path Method (CPM)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375355" y="2005781"/>
          <a:ext cx="3716593" cy="47391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7209"/>
                <a:gridCol w="1043537"/>
                <a:gridCol w="850880"/>
                <a:gridCol w="874967"/>
              </a:tblGrid>
              <a:tr h="505996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Act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Dur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LS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LF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505996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I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36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505996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H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30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505996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G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25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30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505996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F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22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25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505996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D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14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22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505996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E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18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22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505996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C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14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345590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B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  <a:tr h="345590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A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3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3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42986" marR="42986" marT="42986" marB="42986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 flipH="1">
            <a:off x="11585750" y="110532"/>
            <a:ext cx="49237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611689" y="16143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Backward Pass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34581" y="641097"/>
          <a:ext cx="2753031" cy="4216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0764"/>
                <a:gridCol w="1552267"/>
              </a:tblGrid>
              <a:tr h="589911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Activity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dirty="0">
                          <a:effectLst/>
                        </a:rPr>
                        <a:t>Slack (LS − ES)</a:t>
                      </a:r>
                      <a:endParaRPr lang="en-US" sz="11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</a:tr>
              <a:tr h="40290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A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</a:tr>
              <a:tr h="40290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B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</a:tr>
              <a:tr h="40290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</a:tr>
              <a:tr h="40290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D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</a:tr>
              <a:tr h="40290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dirty="0">
                          <a:effectLst/>
                        </a:rPr>
                        <a:t>E</a:t>
                      </a:r>
                      <a:endParaRPr lang="en-US" sz="11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</a:tr>
              <a:tr h="40290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F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</a:tr>
              <a:tr h="40290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G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</a:tr>
              <a:tr h="40290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H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</a:tr>
              <a:tr h="40290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I</a:t>
                      </a:r>
                      <a:endParaRPr lang="en-US" sz="11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56332" marR="56332" marT="56332" marB="56332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834581" y="4786595"/>
            <a:ext cx="2605489" cy="1000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77744" rIns="91440" bIns="50784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charset="0"/>
              </a:rPr>
              <a:t>Critical Path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ea typeface="Nova Mono"/>
                <a:cs typeface="Nova Mono"/>
              </a:rPr>
              <a:t>A → B → C → D → F → G → H → I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charset="0"/>
              </a:rPr>
              <a:t>Project Duration = 36–37 Days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648085" y="72521"/>
          <a:ext cx="7003142" cy="6536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9466"/>
                <a:gridCol w="546237"/>
                <a:gridCol w="794872"/>
                <a:gridCol w="919184"/>
                <a:gridCol w="1167817"/>
                <a:gridCol w="625347"/>
                <a:gridCol w="794872"/>
                <a:gridCol w="625347"/>
              </a:tblGrid>
              <a:tr h="791479">
                <a:tc>
                  <a:txBody>
                    <a:bodyPr/>
                    <a:lstStyle/>
                    <a:p>
                      <a:pPr algn="ctr"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Activity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1–5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6–10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11–15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16–20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21–25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26–30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31–35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</a:tr>
              <a:tr h="515917"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Initiation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███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</a:tr>
              <a:tr h="791479"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Requirements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█████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</a:tr>
              <a:tr h="929260"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Design</a:t>
                      </a:r>
                      <a:endParaRPr lang="en-US" sz="1000" b="1" kern="0" dirty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██████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 </a:t>
                      </a:r>
                      <a:endParaRPr lang="en-US" sz="1000" b="1" kern="0" dirty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</a:tr>
              <a:tr h="653698"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Core Development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████████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</a:tr>
              <a:tr h="515917"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Menu &amp; Deals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████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</a:tr>
              <a:tr h="515917"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Integration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███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</a:tr>
              <a:tr h="791479"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Testing</a:t>
                      </a:r>
                      <a:endParaRPr lang="en-US" sz="1000" b="1" kern="0" dirty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█████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 </a:t>
                      </a:r>
                      <a:endParaRPr lang="en-US" sz="1000" b="1" kern="0" dirty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</a:tr>
              <a:tr h="515917"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Deployment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███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</a:tr>
              <a:tr h="515917"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Documentation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 </a:t>
                      </a:r>
                      <a:endParaRPr lang="en-US" sz="1000" b="1" kern="0" dirty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 </a:t>
                      </a:r>
                      <a:endParaRPr lang="en-US" sz="1000" b="1" kern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  <a:tc>
                  <a:txBody>
                    <a:bodyPr/>
                    <a:lstStyle/>
                    <a:p>
                      <a:pPr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 </a:t>
                      </a:r>
                      <a:endParaRPr lang="en-US" sz="1000" b="1" kern="0" dirty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45383" marR="45383" marT="45383" marB="45383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19479" y="1863829"/>
            <a:ext cx="1664263" cy="196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15235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Gantt Chart 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Functional Requirements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~~~~~~~~~~ Phase II ~~~~~~~~~~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725443" y="830333"/>
          <a:ext cx="5594554" cy="49442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9029"/>
                <a:gridCol w="1700533"/>
                <a:gridCol w="544459"/>
                <a:gridCol w="1700533"/>
              </a:tblGrid>
              <a:tr h="150240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Identifier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UC-1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</a:tr>
              <a:tr h="492454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 dirty="0">
                          <a:effectLst/>
                        </a:rPr>
                        <a:t>Purpose</a:t>
                      </a:r>
                      <a:endParaRPr lang="en-US" sz="105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To let the user log into the system using email and password.</a:t>
                      </a:r>
                      <a:endParaRPr lang="en-US" sz="1050">
                        <a:effectLst/>
                      </a:endParaRP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</a:tr>
              <a:tr h="150240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Priority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High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</a:tr>
              <a:tr h="167422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Pre-conditions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User already has an account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</a:tr>
              <a:tr h="300481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Post-conditions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User is logged in and can access all features.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</a:tr>
              <a:tr h="150240">
                <a:tc gridSpan="4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Typical Course of Action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674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>
                          <a:effectLst/>
                        </a:rPr>
                        <a:t>S#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50">
                          <a:effectLst/>
                        </a:rPr>
                        <a:t>Actor Action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50">
                          <a:effectLst/>
                        </a:rPr>
                        <a:t>System Response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171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25796" marR="25796" marT="12898" marB="12898"/>
                </a:tc>
              </a:tr>
              <a:tr h="471588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User enters email and password</a:t>
                      </a:r>
                      <a:endParaRPr lang="en-US" sz="105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  </a:t>
                      </a:r>
                      <a:endParaRPr lang="en-US" sz="105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</a:tr>
              <a:tr h="17143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</a:tr>
              <a:tr h="321347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 dirty="0">
                          <a:effectLst/>
                        </a:rPr>
                        <a:t> </a:t>
                      </a:r>
                      <a:endParaRPr lang="en-US" sz="105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effectLst/>
                        </a:rPr>
                        <a:t>  </a:t>
                      </a:r>
                      <a:endParaRPr lang="en-US" sz="1050" dirty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</a:tr>
              <a:tr h="3004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System checks information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 marL="25796" marR="25796" marT="12898" marB="12898"/>
                </a:tc>
              </a:tr>
              <a:tr h="167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User clicks login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System logs the user in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300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-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System takes user to home page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150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effectLst/>
                        </a:rPr>
                        <a:t>…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150240">
                <a:tc gridSpan="4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Alternate Course of Action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6742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50">
                          <a:effectLst/>
                        </a:rPr>
                        <a:t>S#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50">
                          <a:effectLst/>
                        </a:rPr>
                        <a:t>Actor Action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50">
                          <a:effectLst/>
                        </a:rPr>
                        <a:t>System Response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3004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buNone/>
                      </a:pPr>
                      <a:r>
                        <a:rPr lang="en-GB" sz="105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if user enters wrong details  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System shows error message.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1502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buNone/>
                      </a:pPr>
                      <a:r>
                        <a:rPr lang="en-GB" sz="1050">
                          <a:effectLst/>
                        </a:rPr>
                        <a:t>2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1502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buNone/>
                      </a:pPr>
                      <a:r>
                        <a:rPr lang="en-GB" sz="1050">
                          <a:effectLst/>
                        </a:rPr>
                        <a:t>3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150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effectLst/>
                        </a:rPr>
                        <a:t>…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50" dirty="0">
                          <a:effectLst/>
                        </a:rPr>
                        <a:t> </a:t>
                      </a:r>
                      <a:endParaRPr lang="en-US" sz="105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97277" y="3258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1400"/>
              </a:spcAft>
              <a:buNone/>
            </a:pPr>
            <a:r>
              <a:rPr lang="en-GB" sz="1800" b="1" dirty="0">
                <a:effectLst/>
                <a:latin typeface="Times" panose="02020603050405020304" pitchFamily="18" charset="0"/>
              </a:rPr>
              <a:t>User Login</a:t>
            </a:r>
            <a:endParaRPr lang="en-US" sz="1800" b="1" dirty="0"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19500" y="1025456"/>
          <a:ext cx="5577840" cy="46949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85395"/>
                <a:gridCol w="1824315"/>
                <a:gridCol w="543815"/>
                <a:gridCol w="1824315"/>
              </a:tblGrid>
              <a:tr h="0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Identifier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UC-2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</a:tr>
              <a:tr h="440889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Purpose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To allow a user to write a review and give a rating to a restaurant.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</a:tr>
              <a:tr h="0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Priority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</a:tr>
              <a:tr h="181741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Pre-conditions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User must be logged in.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</a:tr>
              <a:tr h="363481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Post-conditions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Review is saved and shown on the restaurant page.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</a:tr>
              <a:tr h="0">
                <a:tc gridSpan="4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Typical Course of Action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17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S#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Actor Action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System Response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121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</a:tr>
              <a:tr h="371895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User selects a restaurant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  </a:t>
                      </a:r>
                      <a:endParaRPr lang="en-US" sz="100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</a:tr>
              <a:tr h="12116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</a:tr>
              <a:tr h="13719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  </a:t>
                      </a:r>
                      <a:endParaRPr lang="en-US" sz="100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</a:tr>
              <a:tr h="18174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system shows details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5796" marR="25796" marT="12898" marB="12898"/>
                </a:tc>
              </a:tr>
              <a:tr h="24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User clicks “Add Review”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System opens review box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181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User writes review and rating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System saves review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24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…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-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System updates average rating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0">
                <a:tc gridSpan="4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Alternate Course of Action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1741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S#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Actor Action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System Response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3029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If input is empty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System shows “Please enter review”.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…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9347" marR="19347" marT="0" marB="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0" y="4554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Add Review and Rating:</a:t>
            </a:r>
            <a:endParaRPr lang="en-US" sz="16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962400" y="944880"/>
          <a:ext cx="5394959" cy="61204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75224"/>
                <a:gridCol w="1696504"/>
                <a:gridCol w="526727"/>
                <a:gridCol w="1696504"/>
              </a:tblGrid>
              <a:tr h="0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Identifier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UC-3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</a:tr>
              <a:tr h="333990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Purpose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To let users quickly search for a restaurant.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</a:tr>
              <a:tr h="0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Priority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Medium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</a:tr>
              <a:tr h="126565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Pre-conditions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User is on home page.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</a:tr>
              <a:tr h="270708"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Post-conditions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Search results are shown.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</a:tr>
              <a:tr h="0">
                <a:tc gridSpan="4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Typical Course of Action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98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>
                          <a:effectLst/>
                        </a:rPr>
                        <a:t>S#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Actor Action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System Response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</a:tr>
              <a:tr h="134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134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32520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User types restaurant name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  </a:t>
                      </a:r>
                      <a:endParaRPr lang="en-US" sz="100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23530" marR="23530" marT="11765" marB="11765"/>
                </a:tc>
              </a:tr>
              <a:tr h="1571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  </a:t>
                      </a:r>
                      <a:endParaRPr lang="en-US" sz="100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13411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15712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  </a:t>
                      </a:r>
                      <a:endParaRPr lang="en-US" sz="100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134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32520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System starts searching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  </a:t>
                      </a:r>
                      <a:endParaRPr lang="en-US" sz="100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13411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134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32520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User clicks search button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  </a:t>
                      </a:r>
                      <a:endParaRPr lang="en-US" sz="100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32520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System shows matching restaurants</a:t>
                      </a:r>
                      <a:endParaRPr lang="en-US" sz="1000">
                        <a:effectLst/>
                      </a:endParaRPr>
                    </a:p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23530" marR="23530" marT="11765" marB="11765"/>
                </a:tc>
              </a:tr>
              <a:tr h="0">
                <a:tc gridSpan="4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Alternate Course of Action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9848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S#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Actor Action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System Response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</a:tr>
              <a:tr h="31641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If no restaurant found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System shows “No results found”.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buNone/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…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grid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GB" sz="10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17647" marR="17647" marT="0" marB="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65120" y="3698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Search Restaurant: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18460" y="156538"/>
            <a:ext cx="60960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1200"/>
              </a:spcAft>
              <a:buNone/>
            </a:pPr>
            <a:r>
              <a:rPr lang="en-GB" sz="1600" b="1" kern="0" dirty="0">
                <a:effectLst/>
                <a:latin typeface="Times" panose="02020603050405020304" pitchFamily="18" charset="0"/>
              </a:rPr>
              <a:t>Nonfunctional Requirements*</a:t>
            </a:r>
            <a:endParaRPr lang="en-US" sz="1600" b="1" kern="0" dirty="0">
              <a:effectLst/>
              <a:latin typeface="Times" panose="02020603050405020304" pitchFamily="18" charset="0"/>
            </a:endParaRPr>
          </a:p>
          <a:p>
            <a:pPr>
              <a:spcBef>
                <a:spcPts val="1400"/>
              </a:spcBef>
              <a:spcAft>
                <a:spcPts val="1400"/>
              </a:spcAft>
              <a:buNone/>
            </a:pPr>
            <a:r>
              <a:rPr lang="en-GB" sz="1600" b="1" dirty="0">
                <a:effectLst/>
                <a:latin typeface="Times" panose="02020603050405020304" pitchFamily="18" charset="0"/>
              </a:rPr>
              <a:t>Performance Requirements</a:t>
            </a:r>
            <a:endParaRPr lang="en-US" sz="1600" b="1" dirty="0">
              <a:effectLst/>
              <a:latin typeface="Times" panose="02020603050405020304" pitchFamily="18" charset="0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Noto Sans Symbols"/>
              </a:rPr>
              <a:t>Website pages should open within </a:t>
            </a:r>
            <a:r>
              <a:rPr lang="en-GB" sz="1600" b="1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Noto Sans Symbols"/>
              </a:rPr>
              <a:t>3–5 seconds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Noto Sans Symbols"/>
              </a:rPr>
              <a:t>.</a:t>
            </a:r>
            <a:endParaRPr lang="en-US" sz="16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Noto Sans Symbols"/>
              </a:rPr>
              <a:t>Search results should appear quickly.</a:t>
            </a:r>
            <a:endParaRPr lang="en-US" sz="16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Noto Sans Symbols"/>
              </a:rPr>
              <a:t>System should handle many reviews without slowing down.</a:t>
            </a:r>
            <a:endParaRPr lang="en-US" sz="1600" dirty="0">
              <a:effectLst/>
              <a:latin typeface="Noto Sans Symbols"/>
              <a:ea typeface="Noto Sans Symbols"/>
              <a:cs typeface="Noto Sans Symbols"/>
            </a:endParaRPr>
          </a:p>
          <a:p>
            <a:pPr>
              <a:spcBef>
                <a:spcPts val="1400"/>
              </a:spcBef>
              <a:spcAft>
                <a:spcPts val="1400"/>
              </a:spcAft>
              <a:buNone/>
            </a:pPr>
            <a:r>
              <a:rPr lang="en-GB" sz="1600" b="1" dirty="0">
                <a:effectLst/>
                <a:latin typeface="Times" panose="02020603050405020304" pitchFamily="18" charset="0"/>
              </a:rPr>
              <a:t>Safety Requirements</a:t>
            </a:r>
            <a:endParaRPr lang="en-US" sz="1600" b="1" dirty="0">
              <a:effectLst/>
              <a:latin typeface="Times" panose="02020603050405020304" pitchFamily="18" charset="0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Noto Sans Symbols"/>
              </a:rPr>
              <a:t>System should not delete user reviews by mistake.</a:t>
            </a:r>
            <a:endParaRPr lang="en-US" sz="16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Noto Sans Symbols"/>
              </a:rPr>
              <a:t>Admin panel should be protected to avoid wrong changes.</a:t>
            </a:r>
            <a:endParaRPr lang="en-US" sz="16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Noto Sans Symbols"/>
              </a:rPr>
              <a:t>Website should prevent data loss during sudden shutdown.</a:t>
            </a:r>
            <a:endParaRPr lang="en-US" sz="1600" dirty="0">
              <a:effectLst/>
              <a:latin typeface="Noto Sans Symbols"/>
              <a:ea typeface="Noto Sans Symbols"/>
              <a:cs typeface="Noto Sans Symbols"/>
            </a:endParaRPr>
          </a:p>
          <a:p>
            <a:pPr>
              <a:spcBef>
                <a:spcPts val="1400"/>
              </a:spcBef>
              <a:spcAft>
                <a:spcPts val="1400"/>
              </a:spcAft>
              <a:buNone/>
            </a:pPr>
            <a:r>
              <a:rPr lang="en-GB" sz="1600" b="1" dirty="0">
                <a:effectLst/>
                <a:latin typeface="Times" panose="02020603050405020304" pitchFamily="18" charset="0"/>
              </a:rPr>
              <a:t>Security Requirements</a:t>
            </a:r>
            <a:endParaRPr lang="en-US" sz="1600" b="1" dirty="0">
              <a:effectLst/>
              <a:latin typeface="Times" panose="02020603050405020304" pitchFamily="18" charset="0"/>
            </a:endParaRPr>
          </a:p>
          <a:p>
            <a:pPr marL="457200"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Users must log in with correct email and password.</a:t>
            </a:r>
            <a:endParaRPr lang="en-US" sz="16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457200"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Passwords must be saved in a secure way.</a:t>
            </a:r>
            <a:endParaRPr lang="en-US" sz="16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457200"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Only admin can manage restaurant data.</a:t>
            </a:r>
            <a:endParaRPr lang="en-US" sz="16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457200"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User data must not be shared with others</a:t>
            </a:r>
            <a:endParaRPr lang="en-US" sz="16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0" y="843677"/>
            <a:ext cx="60960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1200"/>
              </a:spcAft>
              <a:buNone/>
            </a:pPr>
            <a:r>
              <a:rPr lang="en-GB" sz="1400" b="1" kern="0" dirty="0">
                <a:effectLst/>
                <a:latin typeface="Times" panose="02020603050405020304" pitchFamily="18" charset="0"/>
              </a:rPr>
              <a:t>Other Requirements</a:t>
            </a:r>
            <a:endParaRPr lang="en-US" sz="1400" b="1" kern="0" dirty="0">
              <a:effectLst/>
              <a:latin typeface="Times" panose="02020603050405020304" pitchFamily="18" charset="0"/>
            </a:endParaRPr>
          </a:p>
          <a:p>
            <a:pPr>
              <a:buNone/>
            </a:pPr>
            <a:r>
              <a:rPr lang="en-GB" sz="1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Usability:</a:t>
            </a:r>
            <a:endParaRPr lang="en-US" sz="14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Website must be easy for all users to understand.</a:t>
            </a:r>
            <a:endParaRPr lang="en-US" sz="1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Buttons should be clear and simple.</a:t>
            </a:r>
            <a:endParaRPr lang="en-US" sz="1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457200">
              <a:buNone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4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Reliability:</a:t>
            </a:r>
            <a:endParaRPr lang="en-US" sz="14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System should work without crashing</a:t>
            </a:r>
            <a:endParaRPr lang="en-US" sz="1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>
              <a:buNone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4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Flexibility:</a:t>
            </a:r>
            <a:endParaRPr lang="en-US" sz="14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4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New features can be added later easily.</a:t>
            </a:r>
            <a:endParaRPr lang="en-US" sz="1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>
              <a:buNone/>
            </a:pPr>
            <a:r>
              <a:rPr lang="en-GB" sz="1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Maintainability:</a:t>
            </a:r>
            <a:endParaRPr lang="en-US" sz="14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4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Code should be simple so future students can edit it.</a:t>
            </a:r>
            <a:endParaRPr lang="en-US" sz="1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>
              <a:buNone/>
            </a:pPr>
            <a:r>
              <a:rPr lang="en-GB" sz="1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Availability:</a:t>
            </a:r>
            <a:endParaRPr lang="en-US" sz="14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4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342900" lvl="0" indent="-342900">
              <a:buSzPts val="1000"/>
              <a:buFont typeface="Arial" panose="020B0604020202020204" pitchFamily="34" charset="0"/>
              <a:buChar char="●"/>
            </a:pPr>
            <a:r>
              <a:rPr lang="en-GB" sz="1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Noto Sans Symbols"/>
              </a:rPr>
              <a:t>Website should be available any time if hosted online.</a:t>
            </a:r>
            <a:endParaRPr lang="en-US" sz="1400" dirty="0">
              <a:effectLst/>
              <a:latin typeface="Noto Sans Symbols"/>
              <a:ea typeface="Noto Sans Symbols"/>
              <a:cs typeface="Noto Sans Symbol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Designing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404485" y="709295"/>
            <a:ext cx="6153150" cy="51041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98320" y="24670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1400"/>
              </a:spcBef>
              <a:spcAft>
                <a:spcPts val="140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Times" panose="02020603050405020304" pitchFamily="18" charset="0"/>
              </a:rPr>
              <a:t>Complete class diagram </a:t>
            </a:r>
            <a:endParaRPr lang="en-US" sz="1800" b="1" u="none" strike="noStrike" dirty="0"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3040380" y="2988310"/>
            <a:ext cx="6309360" cy="168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02380" y="12169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1400"/>
              </a:spcBef>
              <a:spcAft>
                <a:spcPts val="1400"/>
              </a:spcAft>
            </a:pPr>
            <a:r>
              <a:rPr lang="en-GB" sz="1800" b="1" u="none" strike="noStrike" dirty="0">
                <a:effectLst/>
                <a:latin typeface="Times" panose="02020603050405020304" pitchFamily="18" charset="0"/>
              </a:rPr>
              <a:t>Complete Data Flow Diagram (DF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D)</a:t>
            </a:r>
            <a:endParaRPr lang="en-US" sz="1800" b="1" u="none" strike="noStrike" dirty="0">
              <a:effectLst/>
              <a:latin typeface="Times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51120" y="1910106"/>
            <a:ext cx="6096000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Level 0</a:t>
            </a:r>
            <a:endParaRPr lang="en-US" sz="20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4880" y="17605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1400"/>
              </a:spcBef>
              <a:spcAft>
                <a:spcPts val="1400"/>
              </a:spcAft>
            </a:pPr>
            <a:r>
              <a:rPr lang="en-GB" sz="1800" b="1" u="none" strike="noStrike" dirty="0">
                <a:effectLst/>
                <a:latin typeface="Times" panose="02020603050405020304" pitchFamily="18" charset="0"/>
              </a:rPr>
              <a:t>Complete Data Flow Diagram (DF</a:t>
            </a: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D)</a:t>
            </a:r>
            <a:endParaRPr lang="en-US" sz="1800" b="1" u="none" strike="noStrike" dirty="0">
              <a:effectLst/>
              <a:latin typeface="Times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65020" y="2634499"/>
            <a:ext cx="6096000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Level 1</a:t>
            </a:r>
            <a:endParaRPr lang="en-US" sz="2000" u="none" strike="noStrike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  <p:pic>
        <p:nvPicPr>
          <p:cNvPr id="6" name="image7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562600" y="990600"/>
            <a:ext cx="5989320" cy="450341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387340" y="1162050"/>
            <a:ext cx="6309360" cy="4533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7800" y="26748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1400"/>
              </a:spcBef>
              <a:spcAft>
                <a:spcPts val="140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Times" panose="02020603050405020304" pitchFamily="18" charset="0"/>
              </a:rPr>
              <a:t>Complete ER Diagram </a:t>
            </a:r>
            <a:endParaRPr lang="en-US" sz="1800" b="1" u="none" strike="noStrike" dirty="0"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4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425440" y="869950"/>
            <a:ext cx="6309360" cy="5118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78280" y="3492883"/>
            <a:ext cx="6096000" cy="1030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GB" sz="1800" b="1" u="none" strike="noStrike" dirty="0">
                <a:effectLst/>
                <a:latin typeface="Times" panose="02020603050405020304" pitchFamily="18" charset="0"/>
              </a:rPr>
              <a:t>Scenario 1</a:t>
            </a:r>
            <a:endParaRPr lang="en-US" sz="1200" b="1" u="none" strike="noStrike" dirty="0">
              <a:effectLst/>
              <a:latin typeface="Times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17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User Submits Review and Rating</a:t>
            </a:r>
            <a:endParaRPr lang="en-US" sz="1400" b="1" dirty="0">
              <a:effectLst/>
              <a:latin typeface="Times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73580" y="23985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Sequence diagram 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5.jp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059680" y="1200150"/>
            <a:ext cx="6309360" cy="4686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9260" y="2526492"/>
            <a:ext cx="60960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GB" sz="1700" b="1" u="none" strike="noStrike" dirty="0">
                <a:effectLst/>
                <a:latin typeface="Times" panose="02020603050405020304" pitchFamily="18" charset="0"/>
              </a:rPr>
              <a:t>Scenario 2</a:t>
            </a:r>
            <a:endParaRPr lang="en-US" sz="1200" b="1" u="none" strike="noStrike" dirty="0">
              <a:effectLst/>
              <a:latin typeface="Times" panose="02020603050405020304" pitchFamily="18" charset="0"/>
            </a:endParaRPr>
          </a:p>
          <a:p>
            <a:pPr>
              <a:buNone/>
            </a:pPr>
            <a:r>
              <a:rPr lang="en-GB" sz="12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Admin Updates Restaurant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Estimation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831544" y="2218458"/>
          <a:ext cx="6528912" cy="330604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75236"/>
                <a:gridCol w="2253676"/>
              </a:tblGrid>
              <a:tr h="472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Item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Estimated Cost (PKR)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72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Domain &amp; Hosting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10,000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944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Development Effort (student work – nominal)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30,000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72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Testing &amp; Deployment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10,000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72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Maintenance &amp; Miscellaneous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10,000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72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Total Cost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60,000 PKR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22133" y="1136823"/>
            <a:ext cx="4418647" cy="91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77744" rIns="91440" bIns="177744" numCol="1" anchor="ctr" anchorCtr="0" compatLnSpc="1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Cost Benefit Estimation(1</a:t>
            </a:r>
            <a:r>
              <a:rPr kumimoji="0" lang="en-US" altLang="en-US" sz="18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 year)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497580" y="2095500"/>
          <a:ext cx="6057900" cy="3368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60102"/>
                <a:gridCol w="2997798"/>
              </a:tblGrid>
              <a:tr h="673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Source of Benefit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Estimated Value (PKR)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73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Advertisements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40,000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73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Sponsored Restaurants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50,000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73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Increased Platform Usage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20,000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73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Total Benefits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110,000 PKR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362200" y="11259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Cost Benefit Estimation(1</a:t>
            </a:r>
            <a:r>
              <a:rPr kumimoji="0" lang="en-US" altLang="en-US" sz="18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 year)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47800" y="1079122"/>
            <a:ext cx="60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Times" panose="02020603050405020304" pitchFamily="18" charset="0"/>
              </a:rPr>
              <a:t>Return of Investment (ROI) {1</a:t>
            </a:r>
            <a:r>
              <a:rPr lang="en-GB" sz="1800" b="1" baseline="30000" dirty="0">
                <a:effectLst/>
                <a:latin typeface="Times" panose="02020603050405020304" pitchFamily="18" charset="0"/>
              </a:rPr>
              <a:t>st</a:t>
            </a:r>
            <a:r>
              <a:rPr lang="en-GB" sz="1800" b="1" dirty="0">
                <a:effectLst/>
                <a:latin typeface="Times" panose="02020603050405020304" pitchFamily="18" charset="0"/>
              </a:rPr>
              <a:t> year}</a:t>
            </a:r>
            <a:endParaRPr lang="en-US" sz="1200" b="1" dirty="0">
              <a:effectLst/>
              <a:latin typeface="Times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28900" y="180855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ROI=&gt;110,000/60,000​=1.83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800" b="1" u="sng" dirty="0">
                <a:effectLst/>
                <a:latin typeface="Times New Roman" panose="02020603050405020304" charset="0"/>
                <a:ea typeface="Times New Roman" panose="02020603050405020304" charset="0"/>
              </a:rPr>
              <a:t>ROI = 1.83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This means for every </a:t>
            </a:r>
            <a:r>
              <a:rPr lang="en-GB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1 PKR invested</a:t>
            </a: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, the system returns </a:t>
            </a:r>
            <a:r>
              <a:rPr lang="en-GB" sz="18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1.83 PKR</a:t>
            </a:r>
            <a:r>
              <a:rPr lang="en-GB" sz="1800" dirty="0">
                <a:effectLst/>
                <a:latin typeface="Times New Roman" panose="02020603050405020304" charset="0"/>
                <a:ea typeface="Times New Roman" panose="02020603050405020304" charset="0"/>
              </a:rPr>
              <a:t>.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3368993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Times" panose="02020603050405020304" pitchFamily="18" charset="0"/>
              </a:rPr>
              <a:t>%gain on ROI {1</a:t>
            </a:r>
            <a:r>
              <a:rPr lang="en-GB" sz="1800" b="1" baseline="30000" dirty="0">
                <a:effectLst/>
                <a:latin typeface="Times" panose="02020603050405020304" pitchFamily="18" charset="0"/>
              </a:rPr>
              <a:t>st</a:t>
            </a:r>
            <a:r>
              <a:rPr lang="en-GB" sz="1800" b="1" dirty="0">
                <a:effectLst/>
                <a:latin typeface="Times" panose="02020603050405020304" pitchFamily="18" charset="0"/>
              </a:rPr>
              <a:t> year}</a:t>
            </a:r>
            <a:endParaRPr lang="en-US" sz="1200" b="1" dirty="0">
              <a:effectLst/>
              <a:latin typeface="Times" panose="02020603050405020304" pitchFamily="18" charset="0"/>
            </a:endParaRPr>
          </a:p>
          <a:p>
            <a:pPr>
              <a:buNone/>
            </a:pPr>
            <a:r>
              <a:rPr lang="en-GB" sz="12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                    %Gain =&gt; {(110,000-60,000)/60,000}*100</a:t>
            </a:r>
            <a:endParaRPr lang="en-US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b="1" u="sng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                    %Gain =&gt; 83.33%</a:t>
            </a:r>
            <a:endParaRPr lang="en-US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b="1" u="none" strike="noStrike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7820" y="5120819"/>
            <a:ext cx="6096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Times" panose="02020603050405020304" pitchFamily="18" charset="0"/>
              </a:rPr>
              <a:t>Payback Period in years</a:t>
            </a:r>
            <a:endParaRPr lang="en-US" sz="1200" b="1" dirty="0">
              <a:effectLst/>
              <a:latin typeface="Times" panose="02020603050405020304" pitchFamily="18" charset="0"/>
            </a:endParaRPr>
          </a:p>
          <a:p>
            <a:pPr>
              <a:buNone/>
            </a:pPr>
            <a:r>
              <a:rPr lang="en-GB" sz="12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                  Payback Period =&gt; 60,000/110,000 ​= 0.54 years</a:t>
            </a:r>
            <a:endParaRPr lang="en-US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                 Payback Period = 0.5 years (about 6–7 months)</a:t>
            </a:r>
            <a:endParaRPr lang="en-US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dirty="0">
                <a:effectLst/>
                <a:latin typeface="Times New Roman" panose="02020603050405020304" charset="0"/>
                <a:ea typeface="Times New Roman" panose="02020603050405020304" charset="0"/>
              </a:rPr>
              <a:t>                  our project can recover its cost </a:t>
            </a:r>
            <a:r>
              <a:rPr lang="en-GB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within the first year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32560" y="5349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FP based Estimation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89961" y="1421129"/>
          <a:ext cx="4792980" cy="34213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16605"/>
                <a:gridCol w="576375"/>
              </a:tblGrid>
              <a:tr h="571698"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 dirty="0">
                          <a:effectLst/>
                        </a:rPr>
                        <a:t>Component</a:t>
                      </a:r>
                      <a:endParaRPr lang="en-US" sz="1200" b="1" dirty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Count</a:t>
                      </a:r>
                      <a:endParaRPr lang="en-US" sz="1200" b="1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</a:tr>
              <a:tr h="571698"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External Inputs (Login, Signup, Add Review)</a:t>
                      </a:r>
                      <a:endParaRPr lang="en-US" sz="1200" b="1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US" sz="1200" b="1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</a:tr>
              <a:tr h="562892"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External Outputs (View Reviews, Ratings)</a:t>
                      </a:r>
                      <a:endParaRPr lang="en-US" sz="1200" b="1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US" sz="1200" b="1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</a:tr>
              <a:tr h="571698"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External Queries (Search Restaurant)</a:t>
                      </a:r>
                      <a:endParaRPr lang="en-US" sz="1200" b="1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US" sz="1200" b="1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</a:tr>
              <a:tr h="571698"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Internal Logical Files (Users, Restaurants, Reviews)</a:t>
                      </a:r>
                      <a:endParaRPr lang="en-US" sz="1200" b="1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US" sz="1200" b="1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</a:tr>
              <a:tr h="571698"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>
                          <a:effectLst/>
                        </a:rPr>
                        <a:t>External Interface Files</a:t>
                      </a:r>
                      <a:endParaRPr lang="en-US" sz="1200" b="1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en-GB" sz="1100" dirty="0">
                          <a:effectLst/>
                        </a:rPr>
                        <a:t>1</a:t>
                      </a:r>
                      <a:endParaRPr lang="en-US" sz="1200" b="1" dirty="0">
                        <a:effectLst/>
                        <a:latin typeface="Times" panose="02020603050405020304" pitchFamily="18" charset="0"/>
                      </a:endParaRPr>
                    </a:p>
                  </a:txBody>
                  <a:tcPr marL="66801" marR="66801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236470" y="960120"/>
          <a:ext cx="3512819" cy="39547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84149"/>
                <a:gridCol w="767732"/>
                <a:gridCol w="1360938"/>
              </a:tblGrid>
              <a:tr h="1382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Type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              Weight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                  Total FP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14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Inputs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5 × 4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                      20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14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Outputs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4 × 5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                      20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14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Queries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3 × 4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                      12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14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Internal Files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3 × 10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                      30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14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Interface Files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1 × 7</a:t>
                      </a:r>
                      <a:endParaRPr lang="en-US" sz="120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                       7</a:t>
                      </a:r>
                      <a:endParaRPr lang="en-US" sz="1200" dirty="0">
                        <a:effectLst/>
                        <a:latin typeface="Times" panose="02020603050405020304" pitchFamily="18" charset="0"/>
                        <a:ea typeface="Times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05600" y="188214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Unadjusted FP = 89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Assuming </a:t>
            </a:r>
            <a:r>
              <a:rPr lang="en-GB" sz="1800" b="1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simple system complexity</a:t>
            </a:r>
            <a:r>
              <a:rPr lang="en-GB" sz="18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: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800" b="1" u="sng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 FP = 90</a:t>
            </a:r>
            <a:endParaRPr lang="en-US" sz="18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50720" y="2138903"/>
            <a:ext cx="609600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140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Times" panose="02020603050405020304" pitchFamily="18" charset="0"/>
              </a:rPr>
              <a:t>COCOMO Estimation:</a:t>
            </a:r>
            <a:endParaRPr lang="en-US" sz="1400" b="1" dirty="0">
              <a:effectLst/>
              <a:latin typeface="Times" panose="02020603050405020304" pitchFamily="18" charset="0"/>
            </a:endParaRPr>
          </a:p>
          <a:p>
            <a:pPr>
              <a:buNone/>
            </a:pPr>
            <a:r>
              <a:rPr lang="en-GB" sz="12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2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2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LETS ASSUME: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2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 marL="457200">
              <a:buNone/>
            </a:pPr>
            <a:r>
              <a:rPr lang="en-GB" sz="1200" b="1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1 FP = 50 LOC</a:t>
            </a:r>
            <a:r>
              <a:rPr lang="en-GB" sz="12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 (for web systems)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200" i="1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2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LOC =&gt; 90*50 = 4500 LOC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</a:pPr>
            <a:r>
              <a:rPr lang="en-GB" sz="12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  <a:tabLst>
                <a:tab pos="2141220" algn="l"/>
              </a:tabLst>
            </a:pPr>
            <a:r>
              <a:rPr lang="en-GB" sz="1200" b="1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KLOC =&gt; 4500/1000 = 4.5	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  <a:tabLst>
                <a:tab pos="2141220" algn="l"/>
              </a:tabLst>
            </a:pPr>
            <a:r>
              <a:rPr lang="en-GB" sz="1200" b="1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sz="1200" dirty="0">
              <a:effectLst/>
              <a:latin typeface="Times" panose="02020603050405020304" pitchFamily="18" charset="0"/>
              <a:ea typeface="Times" panose="02020603050405020304" pitchFamily="18" charset="0"/>
            </a:endParaRPr>
          </a:p>
          <a:p>
            <a:pPr>
              <a:buNone/>
              <a:tabLst>
                <a:tab pos="2141220" algn="l"/>
              </a:tabLst>
            </a:pPr>
            <a:r>
              <a:rPr lang="en-GB" sz="1200" b="1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  <a:t> 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17820" y="2414081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2141220" algn="l"/>
                  </a:tabLst>
                </a:pPr>
                <a:br>
                  <a:rPr lang="en-GB" dirty="0"/>
                </a:br>
                <a:r>
                  <a:rPr lang="en-GB" dirty="0"/>
                  <a:t> </a:t>
                </a:r>
                <a:br>
                  <a:rPr lang="en-GB" dirty="0"/>
                </a:br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charset="0"/>
                        </a:rPr>
                        <m:t>𝐸𝑓𝑓𝑜𝑟𝑡</m:t>
                      </m:r>
                      <m:r>
                        <a:rPr lang="en-GB" i="1">
                          <a:latin typeface="Cambria Math" panose="02040503050406030204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charset="0"/>
                        </a:rPr>
                        <m:t>11</m:t>
                      </m:r>
                      <m:r>
                        <a:rPr lang="en-GB" b="1" i="1">
                          <a:latin typeface="Cambria Math" panose="02040503050406030204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charset="0"/>
                        </a:rPr>
                        <m:t>𝑃𝑒𝑟𝑠𝑜𝑛</m:t>
                      </m:r>
                      <m:r>
                        <a:rPr lang="en-GB" b="1" i="1">
                          <a:latin typeface="Cambria Math" panose="02040503050406030204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charset="0"/>
                        </a:rPr>
                        <m:t>𝑀𝑜𝑛𝑡ℎ𝑠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  <a:tabLst>
                    <a:tab pos="2141220" algn="l"/>
                  </a:tabLst>
                </a:pP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charset="0"/>
                      </a:rPr>
                      <m:t>                          </m:t>
                    </m:r>
                    <m:r>
                      <a:rPr lang="en-GB" i="1">
                        <a:latin typeface="Cambria Math" panose="02040503050406030204" charset="0"/>
                      </a:rPr>
                      <m:t>𝑇𝑖𝑚𝑒</m:t>
                    </m:r>
                    <m:r>
                      <a:rPr lang="en-GB" i="1">
                        <a:latin typeface="Cambria Math" panose="02040503050406030204" charset="0"/>
                      </a:rPr>
                      <m:t>≈</m:t>
                    </m:r>
                    <m:r>
                      <a:rPr lang="en-GB" i="1">
                        <a:latin typeface="Cambria Math" panose="02040503050406030204" charset="0"/>
                      </a:rPr>
                      <m:t>4</m:t>
                    </m:r>
                    <m:r>
                      <a:rPr lang="en-GB" i="1">
                        <a:latin typeface="Cambria Math" panose="02040503050406030204" charset="0"/>
                      </a:rPr>
                      <m:t>.</m:t>
                    </m:r>
                    <m:r>
                      <a:rPr lang="en-GB" i="1">
                        <a:latin typeface="Cambria Math" panose="02040503050406030204" charset="0"/>
                      </a:rPr>
                      <m:t>5</m:t>
                    </m:r>
                    <m:r>
                      <a:rPr lang="en-GB" b="1" i="1">
                        <a:latin typeface="Cambria Math" panose="02040503050406030204" charset="0"/>
                      </a:rPr>
                      <m:t> </m:t>
                    </m:r>
                    <m:r>
                      <a:rPr lang="en-GB" i="1">
                        <a:latin typeface="Cambria Math" panose="02040503050406030204" charset="0"/>
                      </a:rPr>
                      <m:t>𝑀𝑜𝑛𝑡ℎ𝑠</m:t>
                    </m:r>
                  </m:oMath>
                </a14:m>
                <a:endParaRPr lang="en-US" sz="1600" dirty="0">
                  <a:effectLst/>
                  <a:latin typeface="Times" panose="02020603050405020304" pitchFamily="18" charset="0"/>
                  <a:ea typeface="Times" panose="02020603050405020304" pitchFamily="18" charset="0"/>
                </a:endParaRPr>
              </a:p>
              <a:p>
                <a:pPr>
                  <a:buNone/>
                  <a:tabLst>
                    <a:tab pos="2141220" algn="l"/>
                  </a:tabLst>
                </a:pPr>
                <a:r>
                  <a:rPr lang="en-GB" b="1" dirty="0"/>
                  <a:t>                  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charset="0"/>
                      </a:rPr>
                      <m:t>𝑇𝐸𝐴𝑀</m:t>
                    </m:r>
                    <m:r>
                      <a:rPr lang="en-GB" i="1">
                        <a:latin typeface="Cambria Math" panose="02040503050406030204" charset="0"/>
                      </a:rPr>
                      <m:t>≈</m:t>
                    </m:r>
                    <m:r>
                      <a:rPr lang="en-GB" i="1">
                        <a:latin typeface="Cambria Math" panose="02040503050406030204" charset="0"/>
                      </a:rPr>
                      <m:t>3</m:t>
                    </m:r>
                    <m:r>
                      <a:rPr lang="en-GB" i="1">
                        <a:latin typeface="Cambria Math" panose="02040503050406030204" charset="0"/>
                      </a:rPr>
                      <m:t>−</m:t>
                    </m:r>
                    <m:r>
                      <a:rPr lang="en-GB" i="1">
                        <a:latin typeface="Cambria Math" panose="02040503050406030204" charset="0"/>
                      </a:rPr>
                      <m:t>4</m:t>
                    </m:r>
                    <m:r>
                      <a:rPr lang="en-GB" i="1">
                        <a:latin typeface="Cambria Math" panose="02040503050406030204" charset="0"/>
                      </a:rPr>
                      <m:t> </m:t>
                    </m:r>
                    <m:r>
                      <a:rPr lang="en-GB" i="1">
                        <a:latin typeface="Cambria Math" panose="02040503050406030204" charset="0"/>
                      </a:rPr>
                      <m:t>𝑀𝐸𝑀𝐵𝐸𝑅𝑆</m:t>
                    </m:r>
                    <m:r>
                      <a:rPr lang="en-GB" b="1" i="1">
                        <a:latin typeface="Cambria Math" panose="02040503050406030204" charset="0"/>
                      </a:rPr>
                      <m:t> </m:t>
                    </m:r>
                  </m:oMath>
                </a14:m>
                <a:endParaRPr lang="en-US" sz="1600" dirty="0">
                  <a:effectLst/>
                  <a:latin typeface="Times" panose="02020603050405020304" pitchFamily="18" charset="0"/>
                  <a:ea typeface="Times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820" y="2414081"/>
                <a:ext cx="6096000" cy="1754326"/>
              </a:xfrm>
              <a:prstGeom prst="rect">
                <a:avLst/>
              </a:prstGeom>
              <a:blipFill rotWithShape="1">
                <a:blip r:embed="rId1"/>
                <a:stretch>
                  <a:fillRect t="-25" b="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Slides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Course material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Software Engineering- A Practitioner's Approach by Roger S. Pressman</a:t>
            </a:r>
            <a:br>
              <a:rPr lang="en-GB" dirty="0"/>
            </a:b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94*281"/>
  <p:tag name="TABLE_ENDDRAG_RECT" val="181*119*494*28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9339</Words>
  <Application>WPS Presentation</Application>
  <PresentationFormat>Widescreen</PresentationFormat>
  <Paragraphs>1303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Arial</vt:lpstr>
      <vt:lpstr>SimSun</vt:lpstr>
      <vt:lpstr>Wingdings</vt:lpstr>
      <vt:lpstr>Arial</vt:lpstr>
      <vt:lpstr>Times</vt:lpstr>
      <vt:lpstr>Times New Roman</vt:lpstr>
      <vt:lpstr>Corbel</vt:lpstr>
      <vt:lpstr>Microsoft YaHei</vt:lpstr>
      <vt:lpstr>Arial Unicode MS</vt:lpstr>
      <vt:lpstr>Calibri</vt:lpstr>
      <vt:lpstr>Nova Mono</vt:lpstr>
      <vt:lpstr>Noto Sans Symbols</vt:lpstr>
      <vt:lpstr>Cambria Math</vt:lpstr>
      <vt:lpstr>Segoe Print</vt:lpstr>
      <vt:lpstr>Parallax</vt:lpstr>
      <vt:lpstr>HUNGER FUEL</vt:lpstr>
      <vt:lpstr>MEMBERS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PROJECT MANAGEMENT</vt:lpstr>
      <vt:lpstr>Milestone Table </vt:lpstr>
      <vt:lpstr>Activity List </vt:lpstr>
      <vt:lpstr>Critical Path Method (CPM) </vt:lpstr>
      <vt:lpstr>Critical Path Method (CPM) </vt:lpstr>
      <vt:lpstr>PowerPoint 演示文稿</vt:lpstr>
      <vt:lpstr>PowerPoint 演示文稿</vt:lpstr>
      <vt:lpstr>Functional Requirements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Designing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Estimation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rashid</dc:creator>
  <cp:lastModifiedBy>Rubabimran ImranAli</cp:lastModifiedBy>
  <cp:revision>2</cp:revision>
  <dcterms:created xsi:type="dcterms:W3CDTF">2026-01-22T03:28:00Z</dcterms:created>
  <dcterms:modified xsi:type="dcterms:W3CDTF">2026-06-07T18:47:09Z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F605BB8A0EEE48E6A72ED30DC8B20583_13</vt:lpwstr>
  </property>
</Properties>
</file>